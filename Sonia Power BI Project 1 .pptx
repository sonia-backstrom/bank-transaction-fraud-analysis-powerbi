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57" r:id="rId5"/>
    <p:sldId id="287" r:id="rId6"/>
    <p:sldId id="284" r:id="rId7"/>
    <p:sldId id="279" r:id="rId8"/>
    <p:sldId id="296" r:id="rId9"/>
    <p:sldId id="300" r:id="rId10"/>
    <p:sldId id="306" r:id="rId11"/>
    <p:sldId id="302" r:id="rId12"/>
    <p:sldId id="305" r:id="rId13"/>
    <p:sldId id="304" r:id="rId14"/>
    <p:sldId id="303" r:id="rId15"/>
    <p:sldId id="307" r:id="rId16"/>
    <p:sldId id="308" r:id="rId17"/>
    <p:sldId id="309" r:id="rId1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07C80F-6235-4F93-B854-0B3C95FDB108}" v="1" dt="2026-08-02T21:54:21.127"/>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879" autoAdjust="0"/>
  </p:normalViewPr>
  <p:slideViewPr>
    <p:cSldViewPr showGuides="1">
      <p:cViewPr varScale="1">
        <p:scale>
          <a:sx n="84" d="100"/>
          <a:sy n="84" d="100"/>
        </p:scale>
        <p:origin x="351" y="36"/>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yinyechi Sonia Bäckström" userId="9568f7e93c33d5d8" providerId="LiveId" clId="{EE2DF6B8-58E0-42EC-AE9B-C0E9EAF3E7C5}"/>
    <pc:docChg chg="undo custSel addSld modSld sldOrd">
      <pc:chgData name="Onyinyechi Sonia Bäckström" userId="9568f7e93c33d5d8" providerId="LiveId" clId="{EE2DF6B8-58E0-42EC-AE9B-C0E9EAF3E7C5}" dt="2026-08-02T21:54:35.210" v="20" actId="207"/>
      <pc:docMkLst>
        <pc:docMk/>
      </pc:docMkLst>
      <pc:sldChg chg="addSp delSp modSp add mod ord setBg chgLayout">
        <pc:chgData name="Onyinyechi Sonia Bäckström" userId="9568f7e93c33d5d8" providerId="LiveId" clId="{EE2DF6B8-58E0-42EC-AE9B-C0E9EAF3E7C5}" dt="2026-08-02T21:54:35.210" v="20" actId="207"/>
        <pc:sldMkLst>
          <pc:docMk/>
          <pc:sldMk cId="2968970602" sldId="309"/>
        </pc:sldMkLst>
        <pc:spChg chg="del">
          <ac:chgData name="Onyinyechi Sonia Bäckström" userId="9568f7e93c33d5d8" providerId="LiveId" clId="{EE2DF6B8-58E0-42EC-AE9B-C0E9EAF3E7C5}" dt="2026-08-02T21:53:03.145" v="11" actId="478"/>
          <ac:spMkLst>
            <pc:docMk/>
            <pc:sldMk cId="2968970602" sldId="309"/>
            <ac:spMk id="3" creationId="{637E789E-5F05-4866-2962-C3FF6B1AD000}"/>
          </ac:spMkLst>
        </pc:spChg>
        <pc:spChg chg="add del mod">
          <ac:chgData name="Onyinyechi Sonia Bäckström" userId="9568f7e93c33d5d8" providerId="LiveId" clId="{EE2DF6B8-58E0-42EC-AE9B-C0E9EAF3E7C5}" dt="2026-08-02T21:52:50.441" v="9" actId="478"/>
          <ac:spMkLst>
            <pc:docMk/>
            <pc:sldMk cId="2968970602" sldId="309"/>
            <ac:spMk id="4" creationId="{8045E9C4-E708-5D46-10F5-83D4096524DD}"/>
          </ac:spMkLst>
        </pc:spChg>
        <pc:spChg chg="add del mod">
          <ac:chgData name="Onyinyechi Sonia Bäckström" userId="9568f7e93c33d5d8" providerId="LiveId" clId="{EE2DF6B8-58E0-42EC-AE9B-C0E9EAF3E7C5}" dt="2026-08-02T21:52:42.571" v="5" actId="478"/>
          <ac:spMkLst>
            <pc:docMk/>
            <pc:sldMk cId="2968970602" sldId="309"/>
            <ac:spMk id="5" creationId="{5CDE0FEA-A47A-4E5E-37EE-B93C96BFEC61}"/>
          </ac:spMkLst>
        </pc:spChg>
        <pc:spChg chg="add del mod">
          <ac:chgData name="Onyinyechi Sonia Bäckström" userId="9568f7e93c33d5d8" providerId="LiveId" clId="{EE2DF6B8-58E0-42EC-AE9B-C0E9EAF3E7C5}" dt="2026-08-02T21:52:54.620" v="10" actId="478"/>
          <ac:spMkLst>
            <pc:docMk/>
            <pc:sldMk cId="2968970602" sldId="309"/>
            <ac:spMk id="7" creationId="{416263CE-FBC7-1237-C108-205D258DECAF}"/>
          </ac:spMkLst>
        </pc:spChg>
        <pc:spChg chg="add del mod">
          <ac:chgData name="Onyinyechi Sonia Bäckström" userId="9568f7e93c33d5d8" providerId="LiveId" clId="{EE2DF6B8-58E0-42EC-AE9B-C0E9EAF3E7C5}" dt="2026-08-02T21:53:07.224" v="12" actId="478"/>
          <ac:spMkLst>
            <pc:docMk/>
            <pc:sldMk cId="2968970602" sldId="309"/>
            <ac:spMk id="10" creationId="{412FFDA3-B88B-5431-35ED-A56B69F888F4}"/>
          </ac:spMkLst>
        </pc:spChg>
        <pc:picChg chg="add del mod">
          <ac:chgData name="Onyinyechi Sonia Bäckström" userId="9568f7e93c33d5d8" providerId="LiveId" clId="{EE2DF6B8-58E0-42EC-AE9B-C0E9EAF3E7C5}" dt="2026-08-02T21:54:35.210" v="20" actId="207"/>
          <ac:picMkLst>
            <pc:docMk/>
            <pc:sldMk cId="2968970602" sldId="309"/>
            <ac:picMk id="8" creationId="{10C19772-9FC1-B9CA-DB01-AFA532AFCF9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8/3/2026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8/3/2026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8A14D-16F7-44A3-5DA0-FF2351F33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0B1CE-0D7D-D4FA-4B84-A685FD0D731C}"/>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FAC370DB-D8FB-B9AF-73EE-98D10E55A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5A4A3D-E934-6B69-A8AF-824D6D4B09BF}"/>
              </a:ext>
            </a:extLst>
          </p:cNvPr>
          <p:cNvSpPr>
            <a:spLocks noGrp="1"/>
          </p:cNvSpPr>
          <p:nvPr>
            <p:ph type="sldNum" sz="quarter" idx="10"/>
          </p:nvPr>
        </p:nvSpPr>
        <p:spPr/>
        <p:txBody>
          <a:bodyPr/>
          <a:lstStyle/>
          <a:p>
            <a:fld id="{6BB98AFB-CB0D-4DFE-87B9-B4B0D0DE73CD}" type="slidenum">
              <a:rPr lang="en-US" smtClean="0"/>
              <a:t>14</a:t>
            </a:fld>
            <a:endParaRPr lang="en-US" dirty="0"/>
          </a:p>
        </p:txBody>
      </p:sp>
    </p:spTree>
    <p:extLst>
      <p:ext uri="{BB962C8B-B14F-4D97-AF65-F5344CB8AC3E}">
        <p14:creationId xmlns:p14="http://schemas.microsoft.com/office/powerpoint/2010/main" val="1000387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GB"/>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GB"/>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GB"/>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GB"/>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GB"/>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GB"/>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GB"/>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GB"/>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GB"/>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GB"/>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GB"/>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journalistsresource.org/media/how-to-cover-academic-research-fraud-errors-webinar/" TargetMode="Externa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hyperlink" Target="https://journalistsresource.org/media/how-to-cover-academic-research-fraud-errors-webinar/" TargetMode="Externa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8" name="Picture 7" descr="The image shows a black magnifying glass resting on a green, smooth surface.&#10;&#10;AI-generated content may be incorrect.">
            <a:extLst>
              <a:ext uri="{FF2B5EF4-FFF2-40B4-BE49-F238E27FC236}">
                <a16:creationId xmlns:a16="http://schemas.microsoft.com/office/drawing/2014/main" id="{717C1191-E2E6-A02B-37A4-8D27D8946C52}"/>
              </a:ext>
            </a:extLst>
          </p:cNvPr>
          <p:cNvPicPr>
            <a:picLocks noChangeAspect="1"/>
          </p:cNvPicPr>
          <p:nvPr/>
        </p:nvPicPr>
        <p:blipFill>
          <a:blip r:embed="rId3">
            <a:alphaModFix amt="20000"/>
            <a:duotone>
              <a:prstClr val="black"/>
              <a:schemeClr val="accent5">
                <a:lumMod val="20000"/>
                <a:lumOff val="80000"/>
                <a:tint val="45000"/>
                <a:satMod val="400000"/>
              </a:schemeClr>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0"/>
            <a:ext cx="12188825"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itle 3"/>
          <p:cNvSpPr>
            <a:spLocks noGrp="1"/>
          </p:cNvSpPr>
          <p:nvPr>
            <p:ph type="title"/>
          </p:nvPr>
        </p:nvSpPr>
        <p:spPr>
          <a:xfrm>
            <a:off x="333772" y="3284984"/>
            <a:ext cx="10637440" cy="1896616"/>
          </a:xfrm>
        </p:spPr>
        <p:txBody>
          <a:bodyPr anchor="b">
            <a:normAutofit/>
          </a:bodyPr>
          <a:lstStyle/>
          <a:p>
            <a:r>
              <a:rPr lang="en-US" sz="5200" dirty="0"/>
              <a:t>Bank Transaction Fraud Analysis</a:t>
            </a:r>
          </a:p>
        </p:txBody>
      </p:sp>
      <p:sp>
        <p:nvSpPr>
          <p:cNvPr id="3" name="Content Placeholder 2"/>
          <p:cNvSpPr>
            <a:spLocks noGrp="1"/>
          </p:cNvSpPr>
          <p:nvPr>
            <p:ph type="body" sz="quarter" idx="10"/>
          </p:nvPr>
        </p:nvSpPr>
        <p:spPr>
          <a:xfrm>
            <a:off x="333772" y="5229200"/>
            <a:ext cx="10637440" cy="1296144"/>
          </a:xfrm>
        </p:spPr>
        <p:txBody>
          <a:bodyPr>
            <a:normAutofit lnSpcReduction="10000"/>
          </a:bodyPr>
          <a:lstStyle/>
          <a:p>
            <a:r>
              <a:rPr lang="en-US" sz="3200" b="1" dirty="0"/>
              <a:t>Onyinyechi Sonia Bäckström</a:t>
            </a:r>
          </a:p>
          <a:p>
            <a:r>
              <a:rPr lang="en-US" sz="1400" b="1" dirty="0"/>
              <a:t>Power BI Case Study</a:t>
            </a:r>
          </a:p>
          <a:p>
            <a:r>
              <a:rPr lang="en-US" sz="1400" b="1"/>
              <a:t>August </a:t>
            </a:r>
            <a:r>
              <a:rPr lang="en-US" sz="1400" b="1" dirty="0"/>
              <a:t>2026</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EF5F1AD-A7D6-390A-00AD-E7AA6F59F5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806F45-06DC-8F6B-DCCC-956B422A5CCF}"/>
              </a:ext>
            </a:extLst>
          </p:cNvPr>
          <p:cNvSpPr>
            <a:spLocks noGrp="1"/>
          </p:cNvSpPr>
          <p:nvPr>
            <p:ph type="title"/>
          </p:nvPr>
        </p:nvSpPr>
        <p:spPr>
          <a:xfrm>
            <a:off x="909836" y="332656"/>
            <a:ext cx="10801200" cy="864096"/>
          </a:xfrm>
        </p:spPr>
        <p:txBody>
          <a:bodyPr>
            <a:normAutofit/>
          </a:bodyPr>
          <a:lstStyle/>
          <a:p>
            <a:r>
              <a:rPr lang="en-US" sz="4000" dirty="0"/>
              <a:t>Project Objective and Dataset Overview</a:t>
            </a:r>
          </a:p>
        </p:txBody>
      </p:sp>
      <p:sp>
        <p:nvSpPr>
          <p:cNvPr id="2" name="Content Placeholder 1">
            <a:extLst>
              <a:ext uri="{FF2B5EF4-FFF2-40B4-BE49-F238E27FC236}">
                <a16:creationId xmlns:a16="http://schemas.microsoft.com/office/drawing/2014/main" id="{7CA954B8-E609-7E3A-8D2D-E975F7A6C317}"/>
              </a:ext>
            </a:extLst>
          </p:cNvPr>
          <p:cNvSpPr>
            <a:spLocks noGrp="1"/>
          </p:cNvSpPr>
          <p:nvPr>
            <p:ph idx="1"/>
          </p:nvPr>
        </p:nvSpPr>
        <p:spPr>
          <a:xfrm>
            <a:off x="909836" y="1052736"/>
            <a:ext cx="10801200" cy="5195664"/>
          </a:xfrm>
        </p:spPr>
        <p:txBody>
          <a:bodyPr>
            <a:normAutofit/>
          </a:bodyPr>
          <a:lstStyle/>
          <a:p>
            <a:r>
              <a:rPr lang="en-GB" sz="2600" b="0" dirty="0"/>
              <a:t>The aim of this project was to analyse bank transaction data using Power BI to identify fraud patterns, understand customer behaviour, create dashboard, present key findings and provide actionable recommendations for reducing fraud risk.</a:t>
            </a:r>
          </a:p>
          <a:p>
            <a:r>
              <a:rPr lang="en-GB" sz="2600" b="0" dirty="0"/>
              <a:t>The raw dataset consisted of </a:t>
            </a:r>
            <a:r>
              <a:rPr lang="en-GB" sz="2600" dirty="0"/>
              <a:t>2,512 rows </a:t>
            </a:r>
            <a:r>
              <a:rPr lang="en-GB" sz="2600" b="0" dirty="0"/>
              <a:t>and  </a:t>
            </a:r>
            <a:r>
              <a:rPr lang="en-GB" sz="2600" dirty="0"/>
              <a:t>17 columns</a:t>
            </a:r>
            <a:r>
              <a:rPr lang="en-GB" sz="2600" b="0" dirty="0"/>
              <a:t>, including </a:t>
            </a:r>
            <a:r>
              <a:rPr lang="en-GB" sz="2600" dirty="0"/>
              <a:t>Transaction ID, Account ID, Transaction Date, Transaction Amount, Transaction Type, Location, Device ID, IP Address, Merchant ID, Channel, Customer Age, Customer Occupation, Transaction Duration, Login Attempts, Account Balance, Previous Transaction Date and Is_Fraud</a:t>
            </a:r>
            <a:r>
              <a:rPr lang="en-GB" sz="2600" b="0" dirty="0"/>
              <a:t>. These variables were used for the analysis. </a:t>
            </a:r>
          </a:p>
          <a:p>
            <a:endParaRPr lang="en-US" dirty="0"/>
          </a:p>
        </p:txBody>
      </p:sp>
    </p:spTree>
    <p:extLst>
      <p:ext uri="{BB962C8B-B14F-4D97-AF65-F5344CB8AC3E}">
        <p14:creationId xmlns:p14="http://schemas.microsoft.com/office/powerpoint/2010/main" val="198681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C717FE-BCED-84E0-51E6-EE31F0348F07}"/>
              </a:ext>
            </a:extLst>
          </p:cNvPr>
          <p:cNvSpPr>
            <a:spLocks noGrp="1"/>
          </p:cNvSpPr>
          <p:nvPr>
            <p:ph type="title"/>
          </p:nvPr>
        </p:nvSpPr>
        <p:spPr>
          <a:xfrm>
            <a:off x="909836" y="260648"/>
            <a:ext cx="5184576" cy="576064"/>
          </a:xfrm>
        </p:spPr>
        <p:txBody>
          <a:bodyPr>
            <a:normAutofit fontScale="90000"/>
          </a:bodyPr>
          <a:lstStyle/>
          <a:p>
            <a:r>
              <a:rPr lang="en-US" sz="4000" dirty="0"/>
              <a:t>Data Preparation</a:t>
            </a:r>
          </a:p>
        </p:txBody>
      </p:sp>
      <p:sp>
        <p:nvSpPr>
          <p:cNvPr id="2" name="Content Placeholder 1">
            <a:extLst>
              <a:ext uri="{FF2B5EF4-FFF2-40B4-BE49-F238E27FC236}">
                <a16:creationId xmlns:a16="http://schemas.microsoft.com/office/drawing/2014/main" id="{BF92E986-9D7B-19D4-F7A1-31FE3C366DC9}"/>
              </a:ext>
            </a:extLst>
          </p:cNvPr>
          <p:cNvSpPr>
            <a:spLocks noGrp="1"/>
          </p:cNvSpPr>
          <p:nvPr>
            <p:ph idx="1"/>
          </p:nvPr>
        </p:nvSpPr>
        <p:spPr>
          <a:xfrm>
            <a:off x="909836" y="836712"/>
            <a:ext cx="5687620" cy="5832648"/>
          </a:xfrm>
        </p:spPr>
        <p:txBody>
          <a:bodyPr>
            <a:noAutofit/>
          </a:bodyPr>
          <a:lstStyle/>
          <a:p>
            <a:r>
              <a:rPr lang="en-GB" sz="2300" b="0" dirty="0"/>
              <a:t>During data preparation, the dataset was cleaned by checking for missing values, removing duplicate records and correcting data types using </a:t>
            </a:r>
            <a:r>
              <a:rPr lang="en-GB" sz="2300" dirty="0"/>
              <a:t>Power Query </a:t>
            </a:r>
            <a:r>
              <a:rPr lang="en-GB" sz="2300" b="0" dirty="0"/>
              <a:t>to ensure accuracy and consistency. </a:t>
            </a:r>
          </a:p>
          <a:p>
            <a:r>
              <a:rPr lang="en-GB" sz="2300" dirty="0"/>
              <a:t>Six calculated columns</a:t>
            </a:r>
            <a:r>
              <a:rPr lang="en-GB" sz="2300" b="0" dirty="0"/>
              <a:t> were created </a:t>
            </a:r>
            <a:r>
              <a:rPr lang="en-GB" sz="2300" dirty="0"/>
              <a:t>(Age Group, Account Balance Group, Transaction Day Name, Day Number, Transaction by Time and Hour Number)</a:t>
            </a:r>
            <a:r>
              <a:rPr lang="en-GB" sz="2300" b="0" dirty="0"/>
              <a:t> together with some calculations using </a:t>
            </a:r>
            <a:r>
              <a:rPr lang="en-GB" sz="2300" dirty="0"/>
              <a:t>DAX measures </a:t>
            </a:r>
            <a:r>
              <a:rPr lang="en-GB" sz="2300" b="0" dirty="0"/>
              <a:t>to support deeper analysis and  dashboard visualizations.</a:t>
            </a:r>
            <a:endParaRPr lang="en-US" sz="2300" b="0" dirty="0"/>
          </a:p>
        </p:txBody>
      </p:sp>
      <p:pic>
        <p:nvPicPr>
          <p:cNvPr id="9" name="Picture 8" descr="The image shows a table in Excel or a similar spreadsheet format, listing various transaction details such as Transaction ID, Account ID, Amount, Date, Type, Location, Device ID, IP Address, Merchant ID, Channel, and Customer Age for a dataset of bank transactions.&#10;&#10;AI-generated content may be incorrect.">
            <a:extLst>
              <a:ext uri="{FF2B5EF4-FFF2-40B4-BE49-F238E27FC236}">
                <a16:creationId xmlns:a16="http://schemas.microsoft.com/office/drawing/2014/main" id="{EF3AF2DE-0EE8-2BAE-F686-611DF88908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97456" y="1335308"/>
            <a:ext cx="5583895" cy="3539480"/>
          </a:xfrm>
          <a:prstGeom prst="rect">
            <a:avLst/>
          </a:prstGeom>
        </p:spPr>
      </p:pic>
      <p:pic>
        <p:nvPicPr>
          <p:cNvPr id="11" name="Picture 10" descr="The image shows a table with various columns, including 'Name', 'Age Group', 'Transaction Day Name', 'Transaction by Time', and 'Hour Number'. It contains data about different transactions, such as account balances, login attempts, and whether or not the transaction was fraudulent.&#10;&#10;AI-generated content may be incorrect.">
            <a:extLst>
              <a:ext uri="{FF2B5EF4-FFF2-40B4-BE49-F238E27FC236}">
                <a16:creationId xmlns:a16="http://schemas.microsoft.com/office/drawing/2014/main" id="{8E583C2C-16DD-8926-240C-4E6D9C4242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06580" y="2492896"/>
            <a:ext cx="4582245" cy="3456384"/>
          </a:xfrm>
          <a:prstGeom prst="rect">
            <a:avLst/>
          </a:prstGeom>
        </p:spPr>
      </p:pic>
    </p:spTree>
    <p:extLst>
      <p:ext uri="{BB962C8B-B14F-4D97-AF65-F5344CB8AC3E}">
        <p14:creationId xmlns:p14="http://schemas.microsoft.com/office/powerpoint/2010/main" val="570957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5" name="Picture 14" descr="The image presents a bank transaction fraud analysis report, detailing various metrics such as fraud rate, total fraud amount, and fraud by channel and account balance group, along with monthly fraud amounts.&#10;&#10;AI-generated content may be incorrect.">
            <a:extLst>
              <a:ext uri="{FF2B5EF4-FFF2-40B4-BE49-F238E27FC236}">
                <a16:creationId xmlns:a16="http://schemas.microsoft.com/office/drawing/2014/main" id="{F57360C5-FB39-6277-0BEA-FCFC087B7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56" y="188640"/>
            <a:ext cx="11881320" cy="6552727"/>
          </a:xfrm>
          <a:prstGeom prst="rect">
            <a:avLst/>
          </a:prstGeom>
        </p:spPr>
      </p:pic>
    </p:spTree>
    <p:extLst>
      <p:ext uri="{BB962C8B-B14F-4D97-AF65-F5344CB8AC3E}">
        <p14:creationId xmlns:p14="http://schemas.microsoft.com/office/powerpoint/2010/main" val="546413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443DA83E-349A-230E-7214-D52845E31A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4B7AB7-8084-C928-956B-7BBEE225E9D0}"/>
              </a:ext>
            </a:extLst>
          </p:cNvPr>
          <p:cNvSpPr>
            <a:spLocks noGrp="1"/>
          </p:cNvSpPr>
          <p:nvPr>
            <p:ph idx="1"/>
          </p:nvPr>
        </p:nvSpPr>
        <p:spPr>
          <a:xfrm>
            <a:off x="1009786" y="1237499"/>
            <a:ext cx="11178899" cy="895357"/>
          </a:xfrm>
        </p:spPr>
        <p:txBody>
          <a:bodyPr/>
          <a:lstStyle/>
          <a:p>
            <a:r>
              <a:rPr lang="en-US" sz="2000" dirty="0"/>
              <a:t>2,512 Transactions were analyzed,126 transactions(5.02%) were fraudulent and Total Fraud Amount is 79,791.45.</a:t>
            </a:r>
          </a:p>
          <a:p>
            <a:endParaRPr lang="en-US" b="0" dirty="0"/>
          </a:p>
        </p:txBody>
      </p:sp>
      <p:pic>
        <p:nvPicPr>
          <p:cNvPr id="17" name="Picture 16">
            <a:extLst>
              <a:ext uri="{FF2B5EF4-FFF2-40B4-BE49-F238E27FC236}">
                <a16:creationId xmlns:a16="http://schemas.microsoft.com/office/drawing/2014/main" id="{1BECC30A-1E72-14AF-A3DA-6BAAEAB83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785" y="260648"/>
            <a:ext cx="10873208" cy="895357"/>
          </a:xfrm>
          <a:prstGeom prst="rect">
            <a:avLst/>
          </a:prstGeom>
        </p:spPr>
      </p:pic>
      <p:sp>
        <p:nvSpPr>
          <p:cNvPr id="8" name="Content Placeholder 1">
            <a:extLst>
              <a:ext uri="{FF2B5EF4-FFF2-40B4-BE49-F238E27FC236}">
                <a16:creationId xmlns:a16="http://schemas.microsoft.com/office/drawing/2014/main" id="{715EFB40-9709-6B35-4367-F527CF8CF897}"/>
              </a:ext>
            </a:extLst>
          </p:cNvPr>
          <p:cNvSpPr txBox="1">
            <a:spLocks/>
          </p:cNvSpPr>
          <p:nvPr/>
        </p:nvSpPr>
        <p:spPr>
          <a:xfrm>
            <a:off x="978853" y="4509120"/>
            <a:ext cx="11206981" cy="2348880"/>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Total non-fraud amount is 667,764, which is higher than the Total fraud amount.</a:t>
            </a:r>
          </a:p>
          <a:p>
            <a:r>
              <a:rPr lang="en-GB" sz="2000" dirty="0"/>
              <a:t>Average Fraud Amount is 633 and Average Non-fraud Amount is 280. Fraudulent transactions are significantly higher than the Legit transactions. </a:t>
            </a:r>
          </a:p>
          <a:p>
            <a:r>
              <a:rPr lang="en-GB" sz="2000" dirty="0"/>
              <a:t>Online transaction channel recorded the highest fraud rate by 55.7%, followed by ATM (25.2%) and Branch (19.1%).</a:t>
            </a:r>
          </a:p>
        </p:txBody>
      </p:sp>
      <p:pic>
        <p:nvPicPr>
          <p:cNvPr id="10" name="Picture 9" descr="The diagram displays statistics comparing fraudulent and non-fraudulent transaction amounts and rates across different channels.">
            <a:extLst>
              <a:ext uri="{FF2B5EF4-FFF2-40B4-BE49-F238E27FC236}">
                <a16:creationId xmlns:a16="http://schemas.microsoft.com/office/drawing/2014/main" id="{BD228F59-CE5F-C3D7-7E68-A75766212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853" y="2132856"/>
            <a:ext cx="10873208" cy="2195693"/>
          </a:xfrm>
          <a:prstGeom prst="rect">
            <a:avLst/>
          </a:prstGeom>
        </p:spPr>
      </p:pic>
    </p:spTree>
    <p:extLst>
      <p:ext uri="{BB962C8B-B14F-4D97-AF65-F5344CB8AC3E}">
        <p14:creationId xmlns:p14="http://schemas.microsoft.com/office/powerpoint/2010/main" val="2182148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80272F87-9AA1-C921-071B-11F855FCD3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813897-4579-19AC-2593-E4CB68BA7207}"/>
              </a:ext>
            </a:extLst>
          </p:cNvPr>
          <p:cNvSpPr>
            <a:spLocks noGrp="1"/>
          </p:cNvSpPr>
          <p:nvPr>
            <p:ph idx="1"/>
          </p:nvPr>
        </p:nvSpPr>
        <p:spPr>
          <a:xfrm>
            <a:off x="6934930" y="656692"/>
            <a:ext cx="5092857" cy="1908212"/>
          </a:xfrm>
        </p:spPr>
        <p:txBody>
          <a:bodyPr>
            <a:normAutofit/>
          </a:bodyPr>
          <a:lstStyle/>
          <a:p>
            <a:r>
              <a:rPr lang="en-US" sz="2000" dirty="0"/>
              <a:t>The highest number of Fraudulent transactions occur </a:t>
            </a:r>
            <a:r>
              <a:rPr lang="en-GB" sz="2000" dirty="0"/>
              <a:t>within the "Under 2000" account balance group, totalling 104 transactions. </a:t>
            </a:r>
            <a:endParaRPr lang="en-US" sz="2000" dirty="0"/>
          </a:p>
        </p:txBody>
      </p:sp>
      <p:sp>
        <p:nvSpPr>
          <p:cNvPr id="8" name="Content Placeholder 1">
            <a:extLst>
              <a:ext uri="{FF2B5EF4-FFF2-40B4-BE49-F238E27FC236}">
                <a16:creationId xmlns:a16="http://schemas.microsoft.com/office/drawing/2014/main" id="{972F310F-299C-FE40-C516-A45DB4EDFD68}"/>
              </a:ext>
            </a:extLst>
          </p:cNvPr>
          <p:cNvSpPr txBox="1">
            <a:spLocks/>
          </p:cNvSpPr>
          <p:nvPr/>
        </p:nvSpPr>
        <p:spPr>
          <a:xfrm>
            <a:off x="6934930" y="4149080"/>
            <a:ext cx="5357311" cy="1656184"/>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The analysis shows seasonal fluctuations in the total fraud amount, with significant spikes in March and October.</a:t>
            </a:r>
          </a:p>
        </p:txBody>
      </p:sp>
      <p:pic>
        <p:nvPicPr>
          <p:cNvPr id="10" name="Picture 9" descr="The image is a line graph depicting the monthly fraud amounts, starting at 0 in January and reaching 10,000 by December.&#10;&#10;AI-generated content may be incorrect.">
            <a:extLst>
              <a:ext uri="{FF2B5EF4-FFF2-40B4-BE49-F238E27FC236}">
                <a16:creationId xmlns:a16="http://schemas.microsoft.com/office/drawing/2014/main" id="{DD6F3A42-C2CB-6CBE-CF3D-A8C29C045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836" y="3789040"/>
            <a:ext cx="5616623" cy="2808312"/>
          </a:xfrm>
          <a:prstGeom prst="rect">
            <a:avLst/>
          </a:prstGeom>
        </p:spPr>
      </p:pic>
      <p:pic>
        <p:nvPicPr>
          <p:cNvPr id="12" name="Picture 11" descr="The diagram illustrates the distribution of fraudulent transactions across different account balance groups, showing a breakdown from under $2000 to over $10,000.&#10;&#10;AI-generated content may be incorrect.">
            <a:extLst>
              <a:ext uri="{FF2B5EF4-FFF2-40B4-BE49-F238E27FC236}">
                <a16:creationId xmlns:a16="http://schemas.microsoft.com/office/drawing/2014/main" id="{207DA722-1864-9DC3-082B-CFBDE12A8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836" y="328389"/>
            <a:ext cx="5616623" cy="3124148"/>
          </a:xfrm>
          <a:prstGeom prst="rect">
            <a:avLst/>
          </a:prstGeom>
        </p:spPr>
      </p:pic>
    </p:spTree>
    <p:extLst>
      <p:ext uri="{BB962C8B-B14F-4D97-AF65-F5344CB8AC3E}">
        <p14:creationId xmlns:p14="http://schemas.microsoft.com/office/powerpoint/2010/main" val="2676951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AB273473-1B33-B9B0-7283-C14142C76E1E}"/>
            </a:ext>
          </a:extLst>
        </p:cNvPr>
        <p:cNvGrpSpPr/>
        <p:nvPr/>
      </p:nvGrpSpPr>
      <p:grpSpPr>
        <a:xfrm>
          <a:off x="0" y="0"/>
          <a:ext cx="0" cy="0"/>
          <a:chOff x="0" y="0"/>
          <a:chExt cx="0" cy="0"/>
        </a:xfrm>
      </p:grpSpPr>
      <p:pic>
        <p:nvPicPr>
          <p:cNvPr id="7" name="Picture 6" descr="The image displays a detailed fraud transaction report, showcasing various statistics such as fraud rates by month, transaction types, channel, and duration, as well as categorization by age group and occupation.&#10;&#10;AI-generated content may be incorrect.">
            <a:extLst>
              <a:ext uri="{FF2B5EF4-FFF2-40B4-BE49-F238E27FC236}">
                <a16:creationId xmlns:a16="http://schemas.microsoft.com/office/drawing/2014/main" id="{864F50BC-A15E-8045-4E13-6D30575BB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56" y="204764"/>
            <a:ext cx="11809312" cy="6448472"/>
          </a:xfrm>
          <a:prstGeom prst="rect">
            <a:avLst/>
          </a:prstGeom>
        </p:spPr>
      </p:pic>
    </p:spTree>
    <p:extLst>
      <p:ext uri="{BB962C8B-B14F-4D97-AF65-F5344CB8AC3E}">
        <p14:creationId xmlns:p14="http://schemas.microsoft.com/office/powerpoint/2010/main" val="127331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7946902-19AD-5D99-5BEF-3FEF61C5E7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E80050-182E-0E5D-2100-E18BD6942E72}"/>
              </a:ext>
            </a:extLst>
          </p:cNvPr>
          <p:cNvSpPr>
            <a:spLocks noGrp="1"/>
          </p:cNvSpPr>
          <p:nvPr>
            <p:ph idx="1"/>
          </p:nvPr>
        </p:nvSpPr>
        <p:spPr>
          <a:xfrm>
            <a:off x="5086300" y="548680"/>
            <a:ext cx="6485862" cy="1440160"/>
          </a:xfrm>
        </p:spPr>
        <p:txBody>
          <a:bodyPr>
            <a:normAutofit/>
          </a:bodyPr>
          <a:lstStyle/>
          <a:p>
            <a:r>
              <a:rPr lang="en-GB" sz="2000" dirty="0"/>
              <a:t>The data indicates online channels are the primary source of fraud transactions, accounting for 58 instances compared to 36 via ATM and 32 in-branch.</a:t>
            </a:r>
            <a:endParaRPr lang="en-US" sz="2000" dirty="0"/>
          </a:p>
        </p:txBody>
      </p:sp>
      <p:sp>
        <p:nvSpPr>
          <p:cNvPr id="8" name="Content Placeholder 1">
            <a:extLst>
              <a:ext uri="{FF2B5EF4-FFF2-40B4-BE49-F238E27FC236}">
                <a16:creationId xmlns:a16="http://schemas.microsoft.com/office/drawing/2014/main" id="{2DF61A07-D4EE-F2C5-5DBD-06BA6D3C77D0}"/>
              </a:ext>
            </a:extLst>
          </p:cNvPr>
          <p:cNvSpPr txBox="1">
            <a:spLocks/>
          </p:cNvSpPr>
          <p:nvPr/>
        </p:nvSpPr>
        <p:spPr>
          <a:xfrm>
            <a:off x="5086300" y="4797152"/>
            <a:ext cx="6485862" cy="1584176"/>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Fraudulent activity is heavily concentrated on the first login attempt, with 88 cases, significantly higher than subsequent attempt numbers (10-14 cases). </a:t>
            </a:r>
          </a:p>
        </p:txBody>
      </p:sp>
      <p:pic>
        <p:nvPicPr>
          <p:cNvPr id="4" name="Picture 3" descr="The image shows a bar chart indicating that there were 58 fraud transactions through a channel not specified, 36 through an online channel, and 32 through an ATM channel.&#10;&#10;AI-generated content may be incorrect.">
            <a:extLst>
              <a:ext uri="{FF2B5EF4-FFF2-40B4-BE49-F238E27FC236}">
                <a16:creationId xmlns:a16="http://schemas.microsoft.com/office/drawing/2014/main" id="{DEA5BABE-B034-DDD6-F1BE-101806265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498" y="260647"/>
            <a:ext cx="3200421" cy="1912771"/>
          </a:xfrm>
          <a:prstGeom prst="rect">
            <a:avLst/>
          </a:prstGeom>
        </p:spPr>
      </p:pic>
      <p:pic>
        <p:nvPicPr>
          <p:cNvPr id="9" name="Picture 8" descr="The image is a bar chart displaying the number of fraudulent transactions per login attempt, with a total of 88 incidents, and additional data points for individual login attempts.&#10;&#10;AI-generated content may be incorrect.">
            <a:extLst>
              <a:ext uri="{FF2B5EF4-FFF2-40B4-BE49-F238E27FC236}">
                <a16:creationId xmlns:a16="http://schemas.microsoft.com/office/drawing/2014/main" id="{4E7CA416-39B5-7BD9-ADB9-F5E2F496B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496" y="4623278"/>
            <a:ext cx="3200423" cy="1810902"/>
          </a:xfrm>
          <a:prstGeom prst="rect">
            <a:avLst/>
          </a:prstGeom>
        </p:spPr>
      </p:pic>
      <p:sp>
        <p:nvSpPr>
          <p:cNvPr id="11" name="Content Placeholder 1">
            <a:extLst>
              <a:ext uri="{FF2B5EF4-FFF2-40B4-BE49-F238E27FC236}">
                <a16:creationId xmlns:a16="http://schemas.microsoft.com/office/drawing/2014/main" id="{63681898-A76B-5A13-B5FF-0C36F226ADCC}"/>
              </a:ext>
            </a:extLst>
          </p:cNvPr>
          <p:cNvSpPr txBox="1">
            <a:spLocks/>
          </p:cNvSpPr>
          <p:nvPr/>
        </p:nvSpPr>
        <p:spPr>
          <a:xfrm>
            <a:off x="5086300" y="2564904"/>
            <a:ext cx="6621652" cy="1656184"/>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Debit transaction type accounted for the most fraudulent transactions, representing 73.11% of the total, while credit transactions account for 26.89%. </a:t>
            </a:r>
          </a:p>
        </p:txBody>
      </p:sp>
      <p:pic>
        <p:nvPicPr>
          <p:cNvPr id="13" name="Picture 12" descr="The diagram illustrates that 26.98% of transactions are fraudulent, while 73.02% are legitimate, with the types of transactions categorized as debit and credit.&#10;&#10;AI-generated content may be incorrect.">
            <a:extLst>
              <a:ext uri="{FF2B5EF4-FFF2-40B4-BE49-F238E27FC236}">
                <a16:creationId xmlns:a16="http://schemas.microsoft.com/office/drawing/2014/main" id="{18495068-E004-02EF-17DE-8A0B09B07D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496" y="2420888"/>
            <a:ext cx="3200420" cy="1810902"/>
          </a:xfrm>
          <a:prstGeom prst="rect">
            <a:avLst/>
          </a:prstGeom>
        </p:spPr>
      </p:pic>
    </p:spTree>
    <p:extLst>
      <p:ext uri="{BB962C8B-B14F-4D97-AF65-F5344CB8AC3E}">
        <p14:creationId xmlns:p14="http://schemas.microsoft.com/office/powerpoint/2010/main" val="240479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469FDA80-D5E2-40CF-C623-6E3FB4083C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889F54-9559-6DBC-DD3A-CF9C0088F3A0}"/>
              </a:ext>
            </a:extLst>
          </p:cNvPr>
          <p:cNvSpPr>
            <a:spLocks noGrp="1"/>
          </p:cNvSpPr>
          <p:nvPr>
            <p:ph idx="1"/>
          </p:nvPr>
        </p:nvSpPr>
        <p:spPr>
          <a:xfrm>
            <a:off x="5734372" y="476672"/>
            <a:ext cx="6192689" cy="1440160"/>
          </a:xfrm>
        </p:spPr>
        <p:txBody>
          <a:bodyPr>
            <a:normAutofit/>
          </a:bodyPr>
          <a:lstStyle/>
          <a:p>
            <a:r>
              <a:rPr lang="en-US" sz="2000" dirty="0"/>
              <a:t>Average transaction duration of Fraud transaction is 122.8 which is slightly higher than the average transaction duration of non-fraud transactions (119.5). </a:t>
            </a:r>
          </a:p>
        </p:txBody>
      </p:sp>
      <p:sp>
        <p:nvSpPr>
          <p:cNvPr id="8" name="Content Placeholder 1">
            <a:extLst>
              <a:ext uri="{FF2B5EF4-FFF2-40B4-BE49-F238E27FC236}">
                <a16:creationId xmlns:a16="http://schemas.microsoft.com/office/drawing/2014/main" id="{05C0306B-5462-0C4F-9738-378DA730A4A1}"/>
              </a:ext>
            </a:extLst>
          </p:cNvPr>
          <p:cNvSpPr txBox="1">
            <a:spLocks/>
          </p:cNvSpPr>
          <p:nvPr/>
        </p:nvSpPr>
        <p:spPr>
          <a:xfrm>
            <a:off x="5734372" y="2420888"/>
            <a:ext cx="6192690" cy="1224136"/>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Fraud transaction is highest at 4pm with 65 transactions and steadily declined through 5pm (42 transactions) and 6pm(19 transactions).</a:t>
            </a:r>
          </a:p>
          <a:p>
            <a:endParaRPr lang="en-GB" b="0" dirty="0"/>
          </a:p>
        </p:txBody>
      </p:sp>
      <p:sp>
        <p:nvSpPr>
          <p:cNvPr id="4" name="Content Placeholder 1">
            <a:extLst>
              <a:ext uri="{FF2B5EF4-FFF2-40B4-BE49-F238E27FC236}">
                <a16:creationId xmlns:a16="http://schemas.microsoft.com/office/drawing/2014/main" id="{44D0B1E5-8E20-B675-D54D-28696FD3069A}"/>
              </a:ext>
            </a:extLst>
          </p:cNvPr>
          <p:cNvSpPr txBox="1">
            <a:spLocks/>
          </p:cNvSpPr>
          <p:nvPr/>
        </p:nvSpPr>
        <p:spPr>
          <a:xfrm>
            <a:off x="5729263" y="4122393"/>
            <a:ext cx="6197798" cy="2635098"/>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Fraud transactions are highest among individuals “under 25” years with 58 cases followed by individuals between “25 – 34” years.</a:t>
            </a:r>
          </a:p>
          <a:p>
            <a:r>
              <a:rPr lang="en-GB" sz="2000" dirty="0"/>
              <a:t>Students are heavily impacted with 85 transactions followed by Engineers (16 transactions) and Doctors (15 transactions).</a:t>
            </a:r>
          </a:p>
        </p:txBody>
      </p:sp>
      <p:pic>
        <p:nvPicPr>
          <p:cNvPr id="6" name="Picture 5" descr="The diagram illustrates that the average transaction duration is 122.8 for fraudulent statuses and 119.5 for non-fraudulent statuses, with a yes/no option for further verification.&#10;&#10;AI-generated content may be incorrect.">
            <a:extLst>
              <a:ext uri="{FF2B5EF4-FFF2-40B4-BE49-F238E27FC236}">
                <a16:creationId xmlns:a16="http://schemas.microsoft.com/office/drawing/2014/main" id="{04223C87-1172-8588-BA40-AB2BAF923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306" y="209647"/>
            <a:ext cx="3863280" cy="1851201"/>
          </a:xfrm>
          <a:prstGeom prst="rect">
            <a:avLst/>
          </a:prstGeom>
        </p:spPr>
      </p:pic>
      <p:pic>
        <p:nvPicPr>
          <p:cNvPr id="9" name="Picture 8" descr="The graph displays the number of fraud transactions recorded at different times, peaking at 6 PM with 65 incidents.&#10;&#10;AI-generated content may be incorrect.">
            <a:extLst>
              <a:ext uri="{FF2B5EF4-FFF2-40B4-BE49-F238E27FC236}">
                <a16:creationId xmlns:a16="http://schemas.microsoft.com/office/drawing/2014/main" id="{335D018B-6FFA-E868-7C2E-676C8027C2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306" y="2284479"/>
            <a:ext cx="3863280" cy="1851201"/>
          </a:xfrm>
          <a:prstGeom prst="rect">
            <a:avLst/>
          </a:prstGeom>
        </p:spPr>
      </p:pic>
      <p:pic>
        <p:nvPicPr>
          <p:cNvPr id="11" name="Picture 10" descr="The image is a table presenting the number of fraud transactions by age group and occupation, with categories including Doctors, Engineers, Retirees, and Students, across various age ranges.&#10;&#10;AI-generated content may be incorrect.">
            <a:extLst>
              <a:ext uri="{FF2B5EF4-FFF2-40B4-BE49-F238E27FC236}">
                <a16:creationId xmlns:a16="http://schemas.microsoft.com/office/drawing/2014/main" id="{D08A953B-71AD-6394-6F8D-42D37E0AB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0154" y="4359311"/>
            <a:ext cx="3888432" cy="2289042"/>
          </a:xfrm>
          <a:prstGeom prst="rect">
            <a:avLst/>
          </a:prstGeom>
        </p:spPr>
      </p:pic>
    </p:spTree>
    <p:extLst>
      <p:ext uri="{BB962C8B-B14F-4D97-AF65-F5344CB8AC3E}">
        <p14:creationId xmlns:p14="http://schemas.microsoft.com/office/powerpoint/2010/main" val="382833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6F66A383-F6F1-6970-3A81-90F08109FA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FFAE9B-F62D-8AA4-A278-50300EB61197}"/>
              </a:ext>
            </a:extLst>
          </p:cNvPr>
          <p:cNvSpPr>
            <a:spLocks noGrp="1"/>
          </p:cNvSpPr>
          <p:nvPr>
            <p:ph idx="1"/>
          </p:nvPr>
        </p:nvSpPr>
        <p:spPr>
          <a:xfrm>
            <a:off x="5950396" y="764704"/>
            <a:ext cx="5357311" cy="1584176"/>
          </a:xfrm>
        </p:spPr>
        <p:txBody>
          <a:bodyPr>
            <a:normAutofit fontScale="92500" lnSpcReduction="10000"/>
          </a:bodyPr>
          <a:lstStyle/>
          <a:p>
            <a:r>
              <a:rPr lang="en-GB" sz="2000" dirty="0"/>
              <a:t>Fort Worth and Memphis recorded the highest number of fraud transactions (6 transactions each), followed by Boston, Indianapolis, Omaha and San Diego (5 transactions each.</a:t>
            </a:r>
            <a:endParaRPr lang="en-US" sz="2000" b="0" dirty="0"/>
          </a:p>
        </p:txBody>
      </p:sp>
      <p:sp>
        <p:nvSpPr>
          <p:cNvPr id="8" name="Content Placeholder 1">
            <a:extLst>
              <a:ext uri="{FF2B5EF4-FFF2-40B4-BE49-F238E27FC236}">
                <a16:creationId xmlns:a16="http://schemas.microsoft.com/office/drawing/2014/main" id="{56DD3536-85AA-B3C2-66F2-F6896A06A67F}"/>
              </a:ext>
            </a:extLst>
          </p:cNvPr>
          <p:cNvSpPr txBox="1">
            <a:spLocks/>
          </p:cNvSpPr>
          <p:nvPr/>
        </p:nvSpPr>
        <p:spPr>
          <a:xfrm>
            <a:off x="5950396" y="3789040"/>
            <a:ext cx="5765782" cy="1728192"/>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000" dirty="0"/>
              <a:t>Fraud losses were highest on Monday with 60 transactions and declined over the remainder of the working week.</a:t>
            </a:r>
          </a:p>
        </p:txBody>
      </p:sp>
      <p:pic>
        <p:nvPicPr>
          <p:cNvPr id="6" name="Picture 5" descr="The image displays a bar chart ranking the top ten locations by the number of fraud transactions, with Fort Worth, Memphis, Boston, Omaha, San Diego, Detroit, Miami, Indianapolis, Colorado Springs, and Oklahoma City.&#10;&#10;AI-generated content may be incorrect.">
            <a:extLst>
              <a:ext uri="{FF2B5EF4-FFF2-40B4-BE49-F238E27FC236}">
                <a16:creationId xmlns:a16="http://schemas.microsoft.com/office/drawing/2014/main" id="{8C3BE9D9-F238-7C9C-858F-652961517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045" y="476672"/>
            <a:ext cx="4649272" cy="2304256"/>
          </a:xfrm>
          <a:prstGeom prst="rect">
            <a:avLst/>
          </a:prstGeom>
        </p:spPr>
      </p:pic>
      <p:pic>
        <p:nvPicPr>
          <p:cNvPr id="9" name="Picture 8" descr="The image shows a bar chart illustrating the number of fraud transactions occurring each day of the week, with the highest count on Friday and no transactions on Monday.&#10;&#10;AI-generated content may be incorrect.">
            <a:extLst>
              <a:ext uri="{FF2B5EF4-FFF2-40B4-BE49-F238E27FC236}">
                <a16:creationId xmlns:a16="http://schemas.microsoft.com/office/drawing/2014/main" id="{8E8BB106-E3ED-C860-A019-E0EBAE0969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843" y="3429000"/>
            <a:ext cx="4634473" cy="2592288"/>
          </a:xfrm>
          <a:prstGeom prst="rect">
            <a:avLst/>
          </a:prstGeom>
        </p:spPr>
      </p:pic>
    </p:spTree>
    <p:extLst>
      <p:ext uri="{BB962C8B-B14F-4D97-AF65-F5344CB8AC3E}">
        <p14:creationId xmlns:p14="http://schemas.microsoft.com/office/powerpoint/2010/main" val="409343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494ED7CE-A659-B1AC-B4A1-3BB4A2B85DF0}"/>
            </a:ext>
          </a:extLst>
        </p:cNvPr>
        <p:cNvGrpSpPr/>
        <p:nvPr/>
      </p:nvGrpSpPr>
      <p:grpSpPr>
        <a:xfrm>
          <a:off x="0" y="0"/>
          <a:ext cx="0" cy="0"/>
          <a:chOff x="0" y="0"/>
          <a:chExt cx="0" cy="0"/>
        </a:xfrm>
      </p:grpSpPr>
      <p:sp>
        <p:nvSpPr>
          <p:cNvPr id="8" name="Content Placeholder 1">
            <a:extLst>
              <a:ext uri="{FF2B5EF4-FFF2-40B4-BE49-F238E27FC236}">
                <a16:creationId xmlns:a16="http://schemas.microsoft.com/office/drawing/2014/main" id="{6B03E0E2-3A90-E0E5-0F1D-A49856F952DB}"/>
              </a:ext>
            </a:extLst>
          </p:cNvPr>
          <p:cNvSpPr txBox="1">
            <a:spLocks/>
          </p:cNvSpPr>
          <p:nvPr/>
        </p:nvSpPr>
        <p:spPr>
          <a:xfrm>
            <a:off x="935708" y="1059454"/>
            <a:ext cx="10945216" cy="547260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GB" sz="2000" b="0" dirty="0"/>
              <a:t>Strengthen online banking security using multi-factor authentication, biometric verification and one – time passwords. </a:t>
            </a:r>
          </a:p>
          <a:p>
            <a:pPr marL="331470" indent="-285750">
              <a:buFont typeface="Arial" panose="020B0604020202020204" pitchFamily="34" charset="0"/>
              <a:buChar char="•"/>
            </a:pPr>
            <a:r>
              <a:rPr lang="en-GB" sz="2000" b="0" dirty="0"/>
              <a:t>Monitor and verify high-value transactions in real time.</a:t>
            </a:r>
          </a:p>
          <a:p>
            <a:pPr marL="331470" indent="-285750">
              <a:buFont typeface="Arial" panose="020B0604020202020204" pitchFamily="34" charset="0"/>
              <a:buChar char="•"/>
            </a:pPr>
            <a:r>
              <a:rPr lang="en-GB" sz="2000" b="0" dirty="0"/>
              <a:t>Apply enhanced fraud detection rules and transaction monitoring to debit transactions and credit transactions.</a:t>
            </a:r>
          </a:p>
          <a:p>
            <a:pPr marL="331470" indent="-285750">
              <a:buFont typeface="Arial" panose="020B0604020202020204" pitchFamily="34" charset="0"/>
              <a:buChar char="•"/>
            </a:pPr>
            <a:r>
              <a:rPr lang="en-GB" sz="2000" b="0" dirty="0"/>
              <a:t>Educate customers, especially younger users, about fraud prevention. Provide regular fraud awareness campaigns on phishing, password security, missing ATM cards and safe online banking practices. Strengthen in-branch verification and provide regular staff training to prevent fraudulent transactions.  </a:t>
            </a:r>
          </a:p>
          <a:p>
            <a:pPr marL="331470" indent="-285750">
              <a:buFont typeface="Arial" panose="020B0604020202020204" pitchFamily="34" charset="0"/>
              <a:buChar char="•"/>
            </a:pPr>
            <a:r>
              <a:rPr lang="en-GB" sz="2000" b="0" dirty="0"/>
              <a:t>Implement real-time fraud monitoring and risk-based authentication for unusual logins, devices, and locations.</a:t>
            </a:r>
          </a:p>
          <a:p>
            <a:pPr marL="331470" indent="-285750">
              <a:buFont typeface="Arial" panose="020B0604020202020204" pitchFamily="34" charset="0"/>
              <a:buChar char="•"/>
            </a:pPr>
            <a:r>
              <a:rPr lang="en-GB" sz="2000" b="0" dirty="0"/>
              <a:t>Continuously monitor high-risk locations and transaction patterns.</a:t>
            </a:r>
          </a:p>
        </p:txBody>
      </p:sp>
      <p:sp>
        <p:nvSpPr>
          <p:cNvPr id="7" name="Title 3">
            <a:extLst>
              <a:ext uri="{FF2B5EF4-FFF2-40B4-BE49-F238E27FC236}">
                <a16:creationId xmlns:a16="http://schemas.microsoft.com/office/drawing/2014/main" id="{241394CE-606B-0818-6C60-1D0195BA9A99}"/>
              </a:ext>
            </a:extLst>
          </p:cNvPr>
          <p:cNvSpPr>
            <a:spLocks noGrp="1"/>
          </p:cNvSpPr>
          <p:nvPr>
            <p:ph type="title"/>
          </p:nvPr>
        </p:nvSpPr>
        <p:spPr>
          <a:xfrm>
            <a:off x="981844" y="332656"/>
            <a:ext cx="5400600" cy="726798"/>
          </a:xfrm>
        </p:spPr>
        <p:txBody>
          <a:bodyPr>
            <a:normAutofit/>
          </a:bodyPr>
          <a:lstStyle/>
          <a:p>
            <a:r>
              <a:rPr lang="en-US" sz="4000" dirty="0"/>
              <a:t>Recommendations</a:t>
            </a:r>
          </a:p>
        </p:txBody>
      </p:sp>
    </p:spTree>
    <p:extLst>
      <p:ext uri="{BB962C8B-B14F-4D97-AF65-F5344CB8AC3E}">
        <p14:creationId xmlns:p14="http://schemas.microsoft.com/office/powerpoint/2010/main" val="1811783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F1ADCFF-8A81-C27E-7437-626B7416DDBC}"/>
            </a:ext>
          </a:extLst>
        </p:cNvPr>
        <p:cNvGrpSpPr/>
        <p:nvPr/>
      </p:nvGrpSpPr>
      <p:grpSpPr>
        <a:xfrm>
          <a:off x="0" y="0"/>
          <a:ext cx="0" cy="0"/>
          <a:chOff x="0" y="0"/>
          <a:chExt cx="0" cy="0"/>
        </a:xfrm>
      </p:grpSpPr>
      <p:sp>
        <p:nvSpPr>
          <p:cNvPr id="8" name="Content Placeholder 1">
            <a:extLst>
              <a:ext uri="{FF2B5EF4-FFF2-40B4-BE49-F238E27FC236}">
                <a16:creationId xmlns:a16="http://schemas.microsoft.com/office/drawing/2014/main" id="{56CBE46C-5B25-2D3C-4D04-CA9051878F7C}"/>
              </a:ext>
            </a:extLst>
          </p:cNvPr>
          <p:cNvSpPr txBox="1">
            <a:spLocks/>
          </p:cNvSpPr>
          <p:nvPr/>
        </p:nvSpPr>
        <p:spPr>
          <a:xfrm>
            <a:off x="1197868" y="1059454"/>
            <a:ext cx="10729192" cy="5465890"/>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GB" sz="2800" b="0" dirty="0"/>
              <a:t>The analysis found that 5.02% of transactions were fraudulent, resulting in approximately 79,791 in fraud losses. Although fraudulent transactions occurred less frequently than legitimate transactions, fraudulent transactions had a much higher average value (633). </a:t>
            </a:r>
          </a:p>
          <a:p>
            <a:r>
              <a:rPr lang="en-GB" sz="2800" b="0" dirty="0"/>
              <a:t>Online banking, debit transactions, younger customers, and certain transaction times and locations showed increased risk. Therefore, the bank should strengthen authentication, monitor high-value and unusual transactions in real time, improve branch verification procedures, and educate customers about fraud prevention.</a:t>
            </a:r>
          </a:p>
        </p:txBody>
      </p:sp>
      <p:sp>
        <p:nvSpPr>
          <p:cNvPr id="7" name="Title 3">
            <a:extLst>
              <a:ext uri="{FF2B5EF4-FFF2-40B4-BE49-F238E27FC236}">
                <a16:creationId xmlns:a16="http://schemas.microsoft.com/office/drawing/2014/main" id="{0BE61728-DB21-8385-0D34-A4C840C10A55}"/>
              </a:ext>
            </a:extLst>
          </p:cNvPr>
          <p:cNvSpPr>
            <a:spLocks noGrp="1"/>
          </p:cNvSpPr>
          <p:nvPr>
            <p:ph type="title"/>
          </p:nvPr>
        </p:nvSpPr>
        <p:spPr>
          <a:xfrm>
            <a:off x="1197868" y="332656"/>
            <a:ext cx="5184576" cy="726798"/>
          </a:xfrm>
        </p:spPr>
        <p:txBody>
          <a:bodyPr>
            <a:normAutofit/>
          </a:bodyPr>
          <a:lstStyle/>
          <a:p>
            <a:r>
              <a:rPr lang="en-US" sz="4000" dirty="0"/>
              <a:t>Conclusion</a:t>
            </a:r>
          </a:p>
        </p:txBody>
      </p:sp>
    </p:spTree>
    <p:extLst>
      <p:ext uri="{BB962C8B-B14F-4D97-AF65-F5344CB8AC3E}">
        <p14:creationId xmlns:p14="http://schemas.microsoft.com/office/powerpoint/2010/main" val="3552434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BB373B8E-E34A-EC5E-D512-6896C7CC288A}"/>
            </a:ext>
          </a:extLst>
        </p:cNvPr>
        <p:cNvGrpSpPr/>
        <p:nvPr/>
      </p:nvGrpSpPr>
      <p:grpSpPr>
        <a:xfrm>
          <a:off x="0" y="0"/>
          <a:ext cx="0" cy="0"/>
          <a:chOff x="0" y="0"/>
          <a:chExt cx="0" cy="0"/>
        </a:xfrm>
      </p:grpSpPr>
      <p:sp>
        <p:nvSpPr>
          <p:cNvPr id="8" name="Content Placeholder 1">
            <a:extLst>
              <a:ext uri="{FF2B5EF4-FFF2-40B4-BE49-F238E27FC236}">
                <a16:creationId xmlns:a16="http://schemas.microsoft.com/office/drawing/2014/main" id="{AD0A0D05-D9AC-5570-7175-F85154B130C5}"/>
              </a:ext>
            </a:extLst>
          </p:cNvPr>
          <p:cNvSpPr txBox="1">
            <a:spLocks/>
          </p:cNvSpPr>
          <p:nvPr/>
        </p:nvSpPr>
        <p:spPr>
          <a:xfrm>
            <a:off x="1197868" y="2420888"/>
            <a:ext cx="10441160" cy="3600400"/>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b="1" kern="1200" dirty="0">
                <a:solidFill>
                  <a:schemeClr val="tx1">
                    <a:lumMod val="85000"/>
                    <a:lumOff val="15000"/>
                  </a:schemeClr>
                </a:solidFill>
                <a:latin typeface="+mn-lt"/>
                <a:ea typeface="+mn-lt"/>
                <a:cs typeface="+mn-lt"/>
              </a:defRPr>
            </a:lvl1pPr>
            <a:lvl2pPr marL="331470" indent="-28575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gn="l" defTabSz="914400" rtl="0" eaLnBrk="1" latinLnBrk="0" hangingPunct="1">
              <a:lnSpc>
                <a:spcPct val="110000"/>
              </a:lnSpc>
              <a:spcBef>
                <a:spcPts val="600"/>
              </a:spcBef>
              <a:buClr>
                <a:schemeClr val="tx1">
                  <a:lumMod val="65000"/>
                  <a:lumOff val="35000"/>
                </a:schemeClr>
              </a:buClr>
              <a:buSzPct val="80000"/>
              <a:buFont typeface="Arial" panose="020B0604020202020204" pitchFamily="34" charset="0"/>
              <a:buChar char="•"/>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algn="ctr"/>
            <a:r>
              <a:rPr lang="en-GB" sz="3600" b="0" dirty="0"/>
              <a:t>Thank you for your attention. </a:t>
            </a:r>
          </a:p>
          <a:p>
            <a:pPr algn="ctr"/>
            <a:r>
              <a:rPr lang="en-GB" sz="3600" b="0" dirty="0"/>
              <a:t>I welcome your questions or feedback </a:t>
            </a:r>
          </a:p>
        </p:txBody>
      </p:sp>
      <p:sp>
        <p:nvSpPr>
          <p:cNvPr id="7" name="Title 3">
            <a:extLst>
              <a:ext uri="{FF2B5EF4-FFF2-40B4-BE49-F238E27FC236}">
                <a16:creationId xmlns:a16="http://schemas.microsoft.com/office/drawing/2014/main" id="{F49BC32D-6FB3-0A1F-24BD-F55D870B450A}"/>
              </a:ext>
            </a:extLst>
          </p:cNvPr>
          <p:cNvSpPr>
            <a:spLocks noGrp="1"/>
          </p:cNvSpPr>
          <p:nvPr>
            <p:ph type="title"/>
          </p:nvPr>
        </p:nvSpPr>
        <p:spPr>
          <a:xfrm>
            <a:off x="1197868" y="1340768"/>
            <a:ext cx="10729192" cy="792088"/>
          </a:xfrm>
        </p:spPr>
        <p:txBody>
          <a:bodyPr>
            <a:noAutofit/>
          </a:bodyPr>
          <a:lstStyle/>
          <a:p>
            <a:pPr algn="ctr"/>
            <a:r>
              <a:rPr lang="en-US" sz="6000" dirty="0"/>
              <a:t>Questions and Discussion</a:t>
            </a:r>
          </a:p>
        </p:txBody>
      </p:sp>
    </p:spTree>
    <p:extLst>
      <p:ext uri="{BB962C8B-B14F-4D97-AF65-F5344CB8AC3E}">
        <p14:creationId xmlns:p14="http://schemas.microsoft.com/office/powerpoint/2010/main" val="404189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55306538-5B0E-C33E-E761-0B5FB3821A22}"/>
            </a:ext>
          </a:extLst>
        </p:cNvPr>
        <p:cNvGrpSpPr/>
        <p:nvPr/>
      </p:nvGrpSpPr>
      <p:grpSpPr>
        <a:xfrm>
          <a:off x="0" y="0"/>
          <a:ext cx="0" cy="0"/>
          <a:chOff x="0" y="0"/>
          <a:chExt cx="0" cy="0"/>
        </a:xfrm>
      </p:grpSpPr>
      <p:pic>
        <p:nvPicPr>
          <p:cNvPr id="8" name="Picture 7" descr="The image shows a black magnifying glass resting on a green, smooth surface.&#10;&#10;AI-generated content may be incorrect.">
            <a:extLst>
              <a:ext uri="{FF2B5EF4-FFF2-40B4-BE49-F238E27FC236}">
                <a16:creationId xmlns:a16="http://schemas.microsoft.com/office/drawing/2014/main" id="{10C19772-9FC1-B9CA-DB01-AFA532AFCF9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rcRect l="2498" r="1199" b="2"/>
          <a:stretch>
            <a:fillRect/>
          </a:stretch>
        </p:blipFill>
        <p:spPr>
          <a:xfrm>
            <a:off x="20" y="10"/>
            <a:ext cx="12188805" cy="6857990"/>
          </a:xfrm>
          <a:prstGeom prst="rect">
            <a:avLst/>
          </a:prstGeom>
          <a:solidFill>
            <a:schemeClr val="accent6">
              <a:lumMod val="75000"/>
            </a:scheme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68970602"/>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37B52A-9EC8-4B7A-85C4-31F7EAFE40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TM04033917[[fn=Berlin]]</Template>
  <TotalTime>647</TotalTime>
  <Words>751</Words>
  <Application>Microsoft Office PowerPoint</Application>
  <PresentationFormat>Custom</PresentationFormat>
  <Paragraphs>40</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Palatino Linotype</vt:lpstr>
      <vt:lpstr>Custom</vt:lpstr>
      <vt:lpstr>Bank Transaction Fraud Analysis</vt:lpstr>
      <vt:lpstr>Project Objective and Dataset Overview</vt:lpstr>
      <vt:lpstr>Data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Conclusion</vt:lpstr>
      <vt:lpstr>Questions and Discussion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Onyinyechi Sonia Bäckström</dc:creator>
  <cp:lastModifiedBy>Onyinyechi Sonia Bäckström</cp:lastModifiedBy>
  <cp:revision>3</cp:revision>
  <dcterms:created xsi:type="dcterms:W3CDTF">2026-08-02T11:07:13Z</dcterms:created>
  <dcterms:modified xsi:type="dcterms:W3CDTF">2026-08-03T10:55:01Z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